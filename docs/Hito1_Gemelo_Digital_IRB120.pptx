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el Hito 1 del PFI: el gemelo digital cinemático del ABB IRB 120. La tesis de la defensa es una sola: el URDF y la cinemática directa analítica describen el MISMO operador de SE(3), y lo demostramos numéricamente.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cuatro criterios salen literal de la rúbrica del EC1. El cuarto (Git) es evaluado: el docente penaliza commits masivos al final del semestre.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dos 'pérdidas' del pie son justamente las dos preguntas trampa del docente. Las respondemos en las diapositivas 12 y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el ingeniero pregunta por qué insistimos en la muñeca esférica en un hito de cinemática DIRECTA: porque la asignación de ejes que hacemos aquí es la que hace válido Pieper después. Un error de ejes aquí rompe el Hito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al 'por qué elegimos esto': porque restringir la libertad de elección de marcos convierte la descripción en canónica. Dos ingenieros distintos obtienen la misma tabla.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caso de ejes paralelos J2-J3 es la ambigüedad que explica por qué distintas publicaciones dan tablas D-H distintas para el mismo IRB 120. Nosotros adoptamos la de Truc &amp; Lam (2020) y lo declaramos explícitamente.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preguntan por qué las traslaciones z y x se pueden agrupar: porque las traslaciones puras SÍ conmutan entre sí. Eso lo usamos en la diapositiva del puente D-H→URDF.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Esa verificación de cierre en el pie es oro: sin multiplicar una sola matriz, las cotas del manual predicen la pose en q=0. Es el primer control de sanidad que aplicamos.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esperada: '¿por qué el menos noventa?'. Respuesta: porque la convención D-H fija x2 por la perpendicular común, y esa dirección forma 90° con la postura de calibración de ABB. El offset reconcilia ambos ceros.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 p = [0.374, 0, 0.630] coincida con la suma directa de cotas del manual es nuestra primera validación independiente, antes de tocar 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preguntan por el rendimiento: la matriz elemental está expandida analíticamente, no compuesta en tiempo de ejecución. Eso importa cuando corremos 10 000 configuraciones aleatorias en la validación.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es donde la mayoría de grupos se queda: dicen 'son distintos' y ajustan a ojo. Nosotros damos la fórmula de conversión.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nuestra contribución diferencial: en vez de ajustar los orígenes URDF por prueba y error, los DERIVAMOS. Por construcción la coincidencia con TF es exacta hasta el redondeo de punto flotante — de ahí el ΔE ~1e-16 y no 1e-6.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los ejes son 0 0 1 porque en D-H la variable de junta gira SIEMPRE en torno a z. Si alguien pone axis 0 1 0, está mezclando la convención del CAD con la de D-H.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RViz no lanza, el 90% de las veces es una etiqueta mal cerrada; check_urdf da la línea exacta. Lo mostramos en el video del hito.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paso 3 es el que evita el 'robot explotado': si el STL se exporta respecto al origen del ensamble y no del eslabón, cada pieza aparece desplazada aunque la cinemática esté perfecta.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Señalar la discrepancia Ubuntu/ROS del enunciado nos suma: respetamos el SO pedido y elegimos la unica distro compatible con el, en vez de cambiar el sistema operativo.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Distinguir las dos cifras es clave: 3.68e-16 offline mide NUESTRO modelo; 2.47e-10 via TF mide el transporte de ROS en float32. Un grupo que ajusta a ojo consigue 1e-4 en ambas.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grafo de git log --graph en el video. Es evidencia directa del criterio 'historial secuencial de commits lógicos'.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el ingeniero cuestiona el tamaño del grupo, esta es la diapositiva que responde: no repartimos el mismo trabajo entre más gente, ampliamos el alcance con una capa de verificación independiente.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Repartir las preguntas: cada integrante defiende su capa. El de matemática responde 1, 2, 3; el de ROS responde 4 y 6; el de verificación responde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el ingeniero pregunta como saben que la validacion es confiable, esta es la diapositiva. Un grupo que uso time.sleep() y le salio bien de casualidad no puede contar esta historia.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Ofrecer al docente correr cualquiera de estos comandos en vivo. Esa disposicion vale mas que la tabla misma.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Adelantarse a la pregunta '¿por que el robot no tiene forma de robot?': porque la geometria es visual y el hito evalua el modelo cinematico, que esta validado a 1e-10.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enlazando con el Hito 2: el modelo que acabamos de validar es la entrada del solver de Pieper.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" cy="91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960120"/>
            <a:ext cx="457200" cy="457200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1 · PROYECTO FINAL INTEGRADOR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Gemelo Digital del ABB IRB 120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tabla Denavit-Hartenberg al modelo URDF validado en RViz con error vectorial ΔE &lt; 10⁻⁶ 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520440"/>
            <a:ext cx="1463040" cy="0"/>
          </a:xfrm>
          <a:prstGeom prst="line">
            <a:avLst/>
          </a:prstGeom>
          <a:noFill/>
          <a:ln w="25400">
            <a:solidFill>
              <a:srgbClr val="FF6A1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703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VEVAS · 4 integrantes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Robótica IMT-342 · Docente: M.Sc. Ing. Bernardo Quiroga Turdera · Gestión II-2026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9728" cy="109728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26517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exige exactamente el Hito 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EC1 evalúa describir matemáticamente la pose y morfología de un robot de 6 GDL. El entregable no es “un robot que se ve bonito en RViz”: es una equivalencia demostrable entre tres representaciones.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1874520" cy="1691640"/>
          </a:xfrm>
          <a:prstGeom prst="roundRect">
            <a:avLst>
              <a:gd name="adj" fmla="val 3243"/>
            </a:avLst>
          </a:prstGeom>
          <a:solidFill>
            <a:srgbClr val="F4F5F6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2606040"/>
            <a:ext cx="91440" cy="91440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" y="2788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Ejes D-H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315468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los 6 sistemas locales e identificar los offsets de junta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2377440"/>
            <a:ext cx="1874520" cy="1691640"/>
          </a:xfrm>
          <a:prstGeom prst="roundRect">
            <a:avLst>
              <a:gd name="adj" fmla="val 3243"/>
            </a:avLst>
          </a:prstGeom>
          <a:solidFill>
            <a:srgbClr val="F4F5F6"/>
          </a:solidFill>
          <a:ln/>
        </p:spPr>
      </p:sp>
      <p:sp>
        <p:nvSpPr>
          <p:cNvPr id="11" name="Shape 9"/>
          <p:cNvSpPr/>
          <p:nvPr/>
        </p:nvSpPr>
        <p:spPr>
          <a:xfrm>
            <a:off x="2761488" y="2606040"/>
            <a:ext cx="91440" cy="91440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761488" y="2788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URDF modular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761488" y="315468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sin errores de sintaxis, acoplando mallas .stl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377440"/>
            <a:ext cx="1874520" cy="1691640"/>
          </a:xfrm>
          <a:prstGeom prst="roundRect">
            <a:avLst>
              <a:gd name="adj" fmla="val 3243"/>
            </a:avLst>
          </a:prstGeom>
          <a:solidFill>
            <a:srgbClr val="F4F5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864608" y="2606040"/>
            <a:ext cx="91440" cy="91440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64608" y="2788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ΔE &lt; 10⁻⁶ m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64608" y="315468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pruebas: TF de ROS vs. función analítica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2377440"/>
            <a:ext cx="1874520" cy="1691640"/>
          </a:xfrm>
          <a:prstGeom prst="roundRect">
            <a:avLst>
              <a:gd name="adj" fmla="val 3243"/>
            </a:avLst>
          </a:prstGeom>
          <a:solidFill>
            <a:srgbClr val="F4F5F6"/>
          </a:solidFill>
          <a:ln/>
        </p:spPr>
      </p:sp>
      <p:sp>
        <p:nvSpPr>
          <p:cNvPr id="19" name="Shape 17"/>
          <p:cNvSpPr/>
          <p:nvPr/>
        </p:nvSpPr>
        <p:spPr>
          <a:xfrm>
            <a:off x="6967728" y="2606040"/>
            <a:ext cx="91440" cy="91440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67728" y="2788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secuencial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67728" y="315468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commits lógicos, sin volcado final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Pasaporte del hito: la pose [x, y, z] leída de RViz debe coincidir con la analítica en Python con ΔE &lt; 10⁻⁶ m.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9728" cy="109728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26517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Físico → Matemático → Computacional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es una traducción con pérdida controlada de información. Entender qué se pierde en cada flecha es lo que evita los errores clásicos del laboratorio.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2514600" cy="1874520"/>
          </a:xfrm>
          <a:prstGeom prst="roundRect">
            <a:avLst>
              <a:gd name="adj" fmla="val 2927"/>
            </a:avLst>
          </a:prstGeom>
          <a:solidFill>
            <a:srgbClr val="F4F5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 FÍSICO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 IRB 120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juntas de revolución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Cotas del manual oficial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035808" y="29260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83280" y="2148840"/>
            <a:ext cx="2514600" cy="1874520"/>
          </a:xfrm>
          <a:prstGeom prst="roundRect">
            <a:avLst>
              <a:gd name="adj" fmla="val 2927"/>
            </a:avLst>
          </a:prstGeom>
          <a:solidFill>
            <a:srgbClr val="FF6A1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66160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MATEMÁTICO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Convención D-H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parámetros por eslabón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⁰T₆(q) ∈ SE(3)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961888" y="29260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09360" y="2148840"/>
            <a:ext cx="2514600" cy="1874520"/>
          </a:xfrm>
          <a:prstGeom prst="roundRect">
            <a:avLst>
              <a:gd name="adj" fmla="val 2927"/>
            </a:avLst>
          </a:prstGeom>
          <a:solidFill>
            <a:srgbClr val="F4F5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COMPUTACIONAL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URDF / XML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TF + mallas STL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RViz · robot_state_publisher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1: la geometría real se comprime a 4 números por eslabón.   ·   Pérdida 2: los marcos D-H no son los marcos del CAD.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9728" cy="109728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26517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DE ESTUDIO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Morfología del ABB IRB 120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Manipulador antropomórfico de cadena abierta con muñeca esférica. Esa arquitectura no es un detalle: es lo que habilita el desacoplamiento de Pieper que usaremos en el Hito 2.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488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97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GDL de revolución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1488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580 mm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697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máximo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1488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kg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697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útil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21488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±0,01 mm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2697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Repetibilidad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8229600" cy="1005840"/>
          </a:xfrm>
          <a:prstGeom prst="roundRect">
            <a:avLst>
              <a:gd name="adj" fmla="val 5455"/>
            </a:avLst>
          </a:prstGeom>
          <a:solidFill>
            <a:srgbClr val="F4F5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36499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Muñeca esférica (J4, J5, J6):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tres ejes se cortan en un único punto, por lo que a₄ = a₅ = 0. Consecuencia matemática: la posición del centro de muñeca depende sólo de q₁, q₂, q₃ y la orientación sólo de q₄, q₅, q₆. El problema inverso de 6 incógnitas se parte en dos de 3.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9728" cy="109728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26517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Denavit-Hartenberg y no otra parametrización?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77640" cy="2834640"/>
          </a:xfrm>
          <a:prstGeom prst="roundRect">
            <a:avLst>
              <a:gd name="adj" fmla="val 1935"/>
            </a:avLst>
          </a:prstGeom>
          <a:solidFill>
            <a:srgbClr val="F4F5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de los 6 parámetros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transformación libre entre dos marcos en SE(3) necesita 6 números: 3 de traslación y 3 de rotación. Para 6 eslabones son 36 parámetros que hay que medir, documentar y mantener sincronizados.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200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7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parámetros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657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convención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3977640" cy="2834640"/>
          </a:xfrm>
          <a:prstGeom prst="roundRect">
            <a:avLst>
              <a:gd name="adj" fmla="val 1935"/>
            </a:avLst>
          </a:prstGeom>
          <a:solidFill>
            <a:srgbClr val="FF6A1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3776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 de D-H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19659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Imponiendo dos restricciones sobre la elección de marcos — xᵢ ⊥ zᵢ₋₁ y xᵢ corta a zᵢ₋₁ — se eliminan 2 de los 6 grados de libertad de la descripción. Quedan 4 parámetros: θᵢ, dᵢ, aᵢ, αᵢ.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3200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parámetros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3657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sólo 6 son variables (las qᵢ)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convención no es una preferencia estética: es una reducción de dimensionalidad del espacio de descripción, y por eso es reproducible entre grupos de trabajo.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9728" cy="109728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26517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4 reglas de asignación de ejes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 el único paso del hito que no es mecánico. Todo lo demás se deduce de aquí.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3977640" cy="1051560"/>
          </a:xfrm>
          <a:prstGeom prst="roundRect">
            <a:avLst>
              <a:gd name="adj" fmla="val 5217"/>
            </a:avLst>
          </a:prstGeom>
          <a:solidFill>
            <a:srgbClr val="F4F5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0025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011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 zᵢ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3134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alinea con el eje de rotación de la junta i+1. Es el eje sobre el que actúa qᵢ₊₁.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874520"/>
            <a:ext cx="3977640" cy="1051560"/>
          </a:xfrm>
          <a:prstGeom prst="roundRect">
            <a:avLst>
              <a:gd name="adj" fmla="val 5217"/>
            </a:avLst>
          </a:prstGeom>
          <a:solidFill>
            <a:srgbClr val="F4F5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20025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2011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 xᵢ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23134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a lo largo de la perpendicular común entre zᵢ₋₁ y zᵢ, en sentido de zᵢ₋₁ hacia zᵢ.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3977640" cy="1051560"/>
          </a:xfrm>
          <a:prstGeom prst="roundRect">
            <a:avLst>
              <a:gd name="adj" fmla="val 5217"/>
            </a:avLst>
          </a:prstGeom>
          <a:solidFill>
            <a:srgbClr val="F4F5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23697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Origen Oᵢ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54787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intersección de xᵢ con zᵢ. Si los ejes se cortan (muñeca), el origen es ese punto.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3108960"/>
            <a:ext cx="3977640" cy="1051560"/>
          </a:xfrm>
          <a:prstGeom prst="roundRect">
            <a:avLst>
              <a:gd name="adj" fmla="val 5217"/>
            </a:avLst>
          </a:prstGeom>
          <a:solidFill>
            <a:srgbClr val="F4F5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92040" y="323697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 yᵢ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354787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completa por regla de la mano derecha: yᵢ = zᵢ × xᵢ. Nunca se elige libremente.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degenerados que aparecen en el IRB 120:  zᵢ₋₁ ∥ zᵢ (J2–J3, la perpendicular común no es única → se elige la que anula dᵢ)  ·  zᵢ₋₁ ∩ zᵢ (muñeca, aᵢ = 0).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9728" cy="109728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26517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DERIVACIÓN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matriz elemental ⁱ⁻¹Tᵢ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paso de marco i−1 a marco i es siempre la misma secuencia de cuatro movimientos elementales, en este orden estricto: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2C3B4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947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ⁱ⁻¹Tᵢ  =  Rot(z, θᵢ) · Tras(z, dᵢ) · Tras(x, aᵢ) · Rot(x, αᵢ)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1874520" cy="1371600"/>
          </a:xfrm>
          <a:prstGeom prst="roundRect">
            <a:avLst>
              <a:gd name="adj" fmla="val 4000"/>
            </a:avLst>
          </a:prstGeom>
          <a:solidFill>
            <a:srgbClr val="2C3B4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834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A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Rot(z, θᵢ)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1546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F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 el marco hasta alinear xᵢ₋₁ con xᵢ. Es la variable de junta.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60320" y="2697480"/>
            <a:ext cx="1874520" cy="1371600"/>
          </a:xfrm>
          <a:prstGeom prst="roundRect">
            <a:avLst>
              <a:gd name="adj" fmla="val 4000"/>
            </a:avLst>
          </a:prstGeom>
          <a:solidFill>
            <a:srgbClr val="2C3B4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697480" y="2834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A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Tras(z, dᵢ)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31546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F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Desliza a lo largo de zᵢ₋₁ hasta la altura de la perpendicular común.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2697480"/>
            <a:ext cx="1874520" cy="1371600"/>
          </a:xfrm>
          <a:prstGeom prst="roundRect">
            <a:avLst>
              <a:gd name="adj" fmla="val 4000"/>
            </a:avLst>
          </a:prstGeom>
          <a:solidFill>
            <a:srgbClr val="2C3B4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00600" y="2834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A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Tras(x, aᵢ)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31546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F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 la perpendicular común: la longitud real del eslabón.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66560" y="2697480"/>
            <a:ext cx="1874520" cy="1371600"/>
          </a:xfrm>
          <a:prstGeom prst="roundRect">
            <a:avLst>
              <a:gd name="adj" fmla="val 4000"/>
            </a:avLst>
          </a:prstGeom>
          <a:solidFill>
            <a:srgbClr val="2C3B4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903720" y="2834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A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Rot(x, αᵢ)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31546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F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 para alinear zᵢ₋₁ con zᵢ: el torcimiento del eslabón.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importa porque SE(3) no es conmutativo: Rot(z)·Tras(x) ≠ Tras(x)·Rot(z). Todas las post-multiplicaciones se hacen en el marco móvil.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9728" cy="109728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26517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Tabla D-H del ABB IRB 120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Parametrización de Truc &amp; Lam (2020), contrastada con las cotas del manual técnico oficial de ABB.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143000"/>
                <a:gridCol w="1005840"/>
                <a:gridCol w="1005840"/>
                <a:gridCol w="1051560"/>
                <a:gridCol w="3566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θᵢ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dᵢ [m]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aᵢ [m]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αᵢ [rad]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Interpretación física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−π/2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Altura de la columna 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q₂ − π/2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Brazo (a₂), ejes paralelos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−π/2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Codo, offset lateral corto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+π/2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Antebrazo hacia la muñeca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−π/2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Ejes concurrentes (a=d=0)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Brida de salida (tool0)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cierre:  x = d₄ + d₆ = 0,302 + 0,072 = 0,374 m    ·    z = d₁ + a₂ + a₃ = 0,290 + 0,270 + 0,070 = 0,630 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9728" cy="109728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26517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CRÍTICO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offset θ₂ = q₂ − π/2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error nº 1 en este modelo y la pregunta más probable del docente. Hay dos ceros distintos y no coinciden.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977640" cy="1554480"/>
          </a:xfrm>
          <a:prstGeom prst="roundRect">
            <a:avLst>
              <a:gd name="adj" fmla="val 3529"/>
            </a:avLst>
          </a:prstGeom>
          <a:solidFill>
            <a:srgbClr val="F4F5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103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Cero mecánico (ABB)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4231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q₂ = 0 es la postura de calibración del fabricante: el brazo apuntando verticalmente hacia arriba. Es lo que marca el FlexPendant.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920240"/>
            <a:ext cx="3977640" cy="1554480"/>
          </a:xfrm>
          <a:prstGeom prst="roundRect">
            <a:avLst>
              <a:gd name="adj" fmla="val 3529"/>
            </a:avLst>
          </a:prstGeom>
          <a:solidFill>
            <a:srgbClr val="F4F5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37760" y="2103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Cero matemático (D-H)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4231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θ₂ = 0 exige que x₁ y x₂ sean paralelos. Con los ejes asignados por las 4 reglas, eso ocurre con el brazo horizontal: 90° de diferencia.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1F2A3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8221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 práctica: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8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offset es una constante aditiva, no una variable. Se codifica una sola vez dentro de la transformación y jamás se suma en el joint_state. Si se omite, el robot aparece tumbado 90° en RViz y la pose analítica ya no coincide con TF: ΔE ≈ 0,3 m en vez de 10⁻⁶ m.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9728" cy="109728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26517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Cinemática directa: ⁰T₆(q)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8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Encadenar es post-multiplicar. Cada matriz se expresa en el marco del eslabón anterior, por eso el producto va de izquierda a derecha: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029200" cy="594360"/>
          </a:xfrm>
          <a:prstGeom prst="roundRect">
            <a:avLst>
              <a:gd name="adj" fmla="val 9231"/>
            </a:avLst>
          </a:prstGeom>
          <a:solidFill>
            <a:srgbClr val="2C3B4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920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⁰T₆(q) = ⁰T₁ · ¹T₂ · ²T₃ · ³T₄ · ⁴T₅ · ⁵T₆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669280" y="1783080"/>
            <a:ext cx="3017520" cy="594360"/>
          </a:xfrm>
          <a:prstGeom prst="roundRect">
            <a:avLst>
              <a:gd name="adj" fmla="val 9231"/>
            </a:avLst>
          </a:prstGeom>
          <a:solidFill>
            <a:srgbClr val="2C3B4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0" y="19385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⁰T₆ = [ R (3×3)  |  p (3×1) ]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 en la configuración cero  q = [0, 0, 0, 0, 0, 0]ᵀ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1783080" cy="1051560"/>
          </a:xfrm>
          <a:prstGeom prst="roundRect">
            <a:avLst>
              <a:gd name="adj" fmla="val 5217"/>
            </a:avLst>
          </a:prstGeom>
          <a:solidFill>
            <a:srgbClr val="2C3B4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31272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383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0,374 m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468880" y="3017520"/>
            <a:ext cx="1783080" cy="1051560"/>
          </a:xfrm>
          <a:prstGeom prst="roundRect">
            <a:avLst>
              <a:gd name="adj" fmla="val 5217"/>
            </a:avLst>
          </a:prstGeom>
          <a:solidFill>
            <a:srgbClr val="2C3B4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606040" y="31272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606040" y="3383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0,000 m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480560" y="3017520"/>
            <a:ext cx="1783080" cy="1051560"/>
          </a:xfrm>
          <a:prstGeom prst="roundRect">
            <a:avLst>
              <a:gd name="adj" fmla="val 5217"/>
            </a:avLst>
          </a:prstGeom>
          <a:solidFill>
            <a:srgbClr val="2C3B4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17720" y="31272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3383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0,630 m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492240" y="3017520"/>
            <a:ext cx="2194560" cy="1051560"/>
          </a:xfrm>
          <a:prstGeom prst="roundRect">
            <a:avLst>
              <a:gd name="adj" fmla="val 5217"/>
            </a:avLst>
          </a:prstGeom>
          <a:solidFill>
            <a:srgbClr val="2C3B4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56832" y="318211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F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Contrastado con el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F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oficial ABB: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F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coincidencia exacta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279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cinemática directa siempre tiene solución única. Es la inversa —Hito 2— la que puede tener 0, 8 o infinitas.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9728" cy="109728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26517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fk_irb120.py — la fuente analítica de verdad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librerías de robótica: sólo NumPy. Exigencia anti-caja-negra del PFI.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10512"/>
            <a:ext cx="4800600" cy="3200400"/>
          </a:xfrm>
          <a:prstGeom prst="roundRect">
            <a:avLst>
              <a:gd name="adj" fmla="val 1429"/>
            </a:avLst>
          </a:prstGeom>
          <a:solidFill>
            <a:srgbClr val="1620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1938528"/>
            <a:ext cx="4471416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750" dirty="0"/>
          </a:p>
          <a:p>
            <a:pPr indent="0" marL="0">
              <a:lnSpc>
                <a:spcPts val="1013"/>
              </a:lnSpc>
              <a:buNone/>
            </a:pPr>
            <a:endParaRPr lang="en-US" sz="750" dirty="0"/>
          </a:p>
          <a:p>
            <a:pPr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dh(th, d, a, al):</a:t>
            </a:r>
            <a:endParaRPr lang="en-US" sz="750" dirty="0"/>
          </a:p>
          <a:p>
            <a:pPr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ct, st = np.cos(th), np.sin(th)</a:t>
            </a:r>
            <a:endParaRPr lang="en-US" sz="750" dirty="0"/>
          </a:p>
          <a:p>
            <a:pPr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ca, sa = np.cos(al), np.sin(al)</a:t>
            </a:r>
            <a:endParaRPr lang="en-US" sz="750" dirty="0"/>
          </a:p>
          <a:p>
            <a:pPr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np.array([</a:t>
            </a:r>
            <a:endParaRPr lang="en-US" sz="750" dirty="0"/>
          </a:p>
          <a:p>
            <a:pPr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[ct, -st*ca,  st*sa, a*ct],</a:t>
            </a:r>
            <a:endParaRPr lang="en-US" sz="750" dirty="0"/>
          </a:p>
          <a:p>
            <a:pPr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[st,  ct*ca, -ct*sa, a*st],</a:t>
            </a:r>
            <a:endParaRPr lang="en-US" sz="750" dirty="0"/>
          </a:p>
          <a:p>
            <a:pPr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[ 0,     sa,     ca,    d],</a:t>
            </a:r>
            <a:endParaRPr lang="en-US" sz="750" dirty="0"/>
          </a:p>
          <a:p>
            <a:pPr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[ 0,      0,      0,    1]])</a:t>
            </a:r>
            <a:endParaRPr lang="en-US" sz="750" dirty="0"/>
          </a:p>
          <a:p>
            <a:pPr indent="0" marL="0">
              <a:lnSpc>
                <a:spcPts val="1013"/>
              </a:lnSpc>
              <a:buNone/>
            </a:pPr>
            <a:endParaRPr lang="en-US" sz="750" dirty="0"/>
          </a:p>
          <a:p>
            <a:pPr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TABLA = [(0.0, 0.290, 0.0, -np.pi/2),   # (off, d, a, al)</a:t>
            </a:r>
            <a:endParaRPr lang="en-US" sz="750" dirty="0"/>
          </a:p>
          <a:p>
            <a:pPr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(-np.pi/2, 0.0, 0.270, 0.0),   #  Truc &amp; Lam 2020</a:t>
            </a:r>
            <a:endParaRPr lang="en-US" sz="750" dirty="0"/>
          </a:p>
          <a:p>
            <a:pPr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(0.0, 0.0, 0.070, -np.pi/2),</a:t>
            </a:r>
            <a:endParaRPr lang="en-US" sz="750" dirty="0"/>
          </a:p>
          <a:p>
            <a:pPr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(0.0, 0.302, 0.0,  np.pi/2),</a:t>
            </a:r>
            <a:endParaRPr lang="en-US" sz="750" dirty="0"/>
          </a:p>
          <a:p>
            <a:pPr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(0.0, 0.0, 0.0,   -np.pi/2),</a:t>
            </a:r>
            <a:endParaRPr lang="en-US" sz="750" dirty="0"/>
          </a:p>
          <a:p>
            <a:pPr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(0.0, 0.072, 0.0,  0.0)]</a:t>
            </a:r>
            <a:endParaRPr lang="en-US" sz="750" dirty="0"/>
          </a:p>
          <a:p>
            <a:pPr indent="0" marL="0">
              <a:lnSpc>
                <a:spcPts val="1013"/>
              </a:lnSpc>
              <a:buNone/>
            </a:pPr>
            <a:endParaRPr lang="en-US" sz="750" dirty="0"/>
          </a:p>
          <a:p>
            <a:pPr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fk(q):</a:t>
            </a:r>
            <a:endParaRPr lang="en-US" sz="750" dirty="0"/>
          </a:p>
          <a:p>
            <a:pPr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= np.eye(4)</a:t>
            </a:r>
            <a:endParaRPr lang="en-US" sz="750" dirty="0"/>
          </a:p>
          <a:p>
            <a:pPr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qi, (off, d, a, al) in zip(q, TABLA):</a:t>
            </a:r>
            <a:endParaRPr lang="en-US" sz="750" dirty="0"/>
          </a:p>
          <a:p>
            <a:pPr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 = T @ dh(qi + off, d, a, al)</a:t>
            </a:r>
            <a:endParaRPr lang="en-US" sz="750" dirty="0"/>
          </a:p>
          <a:p>
            <a:pPr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394960" y="1828800"/>
            <a:ext cx="3291840" cy="960120"/>
          </a:xfrm>
          <a:prstGeom prst="roundRect">
            <a:avLst>
              <a:gd name="adj" fmla="val 5714"/>
            </a:avLst>
          </a:prstGeom>
          <a:solidFill>
            <a:srgbClr val="F4F5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559552" y="19385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dh(): matriz ya expandida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559552" y="221284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4 factores se pre-multiplicaron a mano: se evitan 4 productos matriciales por junta en cada llamada.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94960" y="2898648"/>
            <a:ext cx="3291840" cy="960120"/>
          </a:xfrm>
          <a:prstGeom prst="roundRect">
            <a:avLst>
              <a:gd name="adj" fmla="val 5714"/>
            </a:avLst>
          </a:prstGeom>
          <a:solidFill>
            <a:srgbClr val="F4F5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559552" y="30083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offset vive en la tabla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559552" y="328269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zip(q, TABLA) suma qᵢ + offᵢ. El usuario entrega siempre ángulos de junta reales, como el FlexPendant.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94960" y="3968496"/>
            <a:ext cx="3291840" cy="960120"/>
          </a:xfrm>
          <a:prstGeom prst="roundRect">
            <a:avLst>
              <a:gd name="adj" fmla="val 5714"/>
            </a:avLst>
          </a:prstGeom>
          <a:solidFill>
            <a:srgbClr val="F4F5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559552" y="40782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T @ dh(...)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559552" y="435254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Post-multiplicación: el operador @ implementa la composición en SE(3) respetando el marco móvil.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9728" cy="109728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26517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CONFLICTO CONCEPTUAL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D-H no es URDF (y no se copia y pega)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más recurrente del laboratorio es volcar aᵢ y dᵢ dentro del tag &lt;origin&gt;. Son dos formalismos con propósitos distintos.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337560"/>
                <a:gridCol w="31546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Denavit-Hartenberg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Parametrización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Restringida a 4 parámetros (z, 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Libre en SE(3): 6 GDL por junta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Árbol cinemático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Implícito y secuencial en la tabla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Explícito con &lt;parent&gt; / &lt;child&gt;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Mallas 3D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aplica: es puramente matemático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 archivos .stl / .dae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Límites y física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definidos en la matriz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Inercia, torque, colisiones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Ecosistema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Álgebra analítica (FK / IK)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RViz, Gazebo, TF, ROS-Industrial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conversión sintáctica 1:1 — pero sí hay una conversión algebraica exacta. Es lo que construimos en la siguiente diapositiva.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9728" cy="109728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26517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DEL GRUPO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puente algebraico D-H → URDF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984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URDF impone T_padre→hijo = Origin · Rot(eje, q), con Origin constante. Pero en D-H la variable qᵢ va al principio. Se resuelve factorizando: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8229600" cy="1234440"/>
          </a:xfrm>
          <a:prstGeom prst="roundRect">
            <a:avLst>
              <a:gd name="adj" fmla="val 3704"/>
            </a:avLst>
          </a:prstGeom>
          <a:solidFill>
            <a:srgbClr val="1620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1911096"/>
            <a:ext cx="79004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Aᵢ = Rz(qᵢ + offᵢ) · Tz(dᵢ) · Tx(aᵢ) · Rx(αᵢ)</a:t>
            </a:r>
            <a:endParaRPr lang="en-US" sz="1200" dirty="0"/>
          </a:p>
          <a:p>
            <a:pPr indent="0" marL="0">
              <a:lnSpc>
                <a:spcPts val="1620"/>
              </a:lnSpc>
              <a:buNone/>
            </a:pPr>
            <a:endParaRPr lang="en-US" sz="1200" dirty="0"/>
          </a:p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= Rz(offᵢ) · Rz(qᵢ) · Bᵢ          con   Bᵢ = Tz(dᵢ)·Tx(aᵢ)·Rx(αᵢ)</a:t>
            </a:r>
            <a:endParaRPr lang="en-US" sz="1200" dirty="0"/>
          </a:p>
          <a:p>
            <a:pPr indent="0" marL="0">
              <a:lnSpc>
                <a:spcPts val="1620"/>
              </a:lnSpc>
              <a:buNone/>
            </a:pPr>
            <a:endParaRPr lang="en-US" sz="1200" dirty="0"/>
          </a:p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porque  Rz(a)·Rz(b) = Rz(a+b)   →   las rotaciones en torno al MISMO eje sí conmutan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127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Reordenando la cadena, cada junta URDF recibe como origen fijo: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3977640" cy="777240"/>
          </a:xfrm>
          <a:prstGeom prst="roundRect">
            <a:avLst>
              <a:gd name="adj" fmla="val 7059"/>
            </a:avLst>
          </a:prstGeom>
          <a:solidFill>
            <a:srgbClr val="FF6A1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363016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Originᵢ = Bᵢ₋₁ · Rz(offᵢ)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709160" y="3429000"/>
            <a:ext cx="3977640" cy="777240"/>
          </a:xfrm>
          <a:prstGeom prst="roundRect">
            <a:avLst>
              <a:gd name="adj" fmla="val 7059"/>
            </a:avLst>
          </a:prstGeom>
          <a:solidFill>
            <a:srgbClr val="2C3B4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46320" y="363016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8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Bᵢ = [ Rx(αᵢ) | (aᵢ, 0, dᵢ) ]   →   xyz="aᵢ 0 dᵢ"  rpy="αᵢ 0 0"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Bᵢ es traslación pura seguida de un giro en x, y las traslaciones puras conmutan entre sí: por eso Tz(d)·Tx(a) colapsa al vector (a, 0, d).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9728" cy="109728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26517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seis orígenes URDF, ya calculados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directa de la fórmula anterior. Ningún número fue ajustado a ojo en RViz.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1920240"/>
                <a:gridCol w="1005840"/>
                <a:gridCol w="21031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 xyz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 rpy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Procedencia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joint_1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0  0  0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0  0  0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0 0 1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B₀ = 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joint_2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0  0  0.290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−π/2  −π/2 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0 0 1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B₁ · Rz(−π/2)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joint_3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0.270  0  0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0  0  0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0 0 1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joint_4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0.070  0  0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−π/2  0 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0 0 1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B₃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joint_5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0  0  0.302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+π/2  0 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0 0 1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joint_6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0  0  0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−π/2  0 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0 0 1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flange (fija)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0  0  0.072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0  0  0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B₆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2245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rpy de joint_2 es un caso de gimbal lock de la propia convención rpy (pitch = −π/2). Lo detectamos al convertir Rx(−π/2)·Rz(−π/2) y lo resolvimos con la rama degenerada de la fórmula, no con un valor a ojo.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9728" cy="109728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26517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irb120.urdf — anatomía del XML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212080" cy="2834640"/>
          </a:xfrm>
          <a:prstGeom prst="roundRect">
            <a:avLst>
              <a:gd name="adj" fmla="val 1613"/>
            </a:avLst>
          </a:prstGeom>
          <a:solidFill>
            <a:srgbClr val="1620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1792" y="1499616"/>
            <a:ext cx="488289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&lt;robot name="irb120"&gt;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&lt;link name="base_link"&gt;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&lt;visual&gt;&lt;geometry&gt;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&lt;mesh filename="package://irb120_description/meshes/base.stl"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scale="0.001 0.001 0.001"/&gt;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&lt;/geometry&gt;&lt;/visual&gt;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&lt;/link&gt;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&lt;link name="link_1"&gt; ... &lt;/link&gt;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&lt;joint name="joint_2" type="revolute"&gt;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&lt;parent link="link_1"/&gt;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&lt;child  link="link_2"/&gt;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&lt;origin xyz="0 0 0.290" rpy="-1.5707963 -1.5707963 0"/&gt;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&lt;axis   xyz="0 0 1"/&gt;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&lt;limit lower="-1.9199" upper="1.9199"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effort="100" velocity="4.36"/&gt;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&lt;/joint&gt;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852160" y="1371600"/>
            <a:ext cx="2834640" cy="640080"/>
          </a:xfrm>
          <a:prstGeom prst="roundRect">
            <a:avLst>
              <a:gd name="adj" fmla="val 8571"/>
            </a:avLst>
          </a:prstGeom>
          <a:solidFill>
            <a:srgbClr val="F4F5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89320" y="143560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A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scale="0.001"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163677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SolidWorks exporta STL en mm; ROS trabaja en metros del SI. Sin esta escala el robot mide 300 m.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852160" y="2084832"/>
            <a:ext cx="2834640" cy="640080"/>
          </a:xfrm>
          <a:prstGeom prst="roundRect">
            <a:avLst>
              <a:gd name="adj" fmla="val 8571"/>
            </a:avLst>
          </a:prstGeom>
          <a:solidFill>
            <a:srgbClr val="F4F5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89320" y="214884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A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&lt;origin&gt;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23500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marco del hijo respecto al padre ANTES de aplicar q. Constante: sale de Bᵢ₋₁·Rz(offᵢ).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52160" y="2798064"/>
            <a:ext cx="2834640" cy="640080"/>
          </a:xfrm>
          <a:prstGeom prst="roundRect">
            <a:avLst>
              <a:gd name="adj" fmla="val 8571"/>
            </a:avLst>
          </a:prstGeom>
          <a:solidFill>
            <a:srgbClr val="F4F5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89320" y="286207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A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&lt;axis xyz="0 0 1"&gt;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30632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local de rotación. En D-H siempre es z, por definición de la convención.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52160" y="3511296"/>
            <a:ext cx="2834640" cy="640080"/>
          </a:xfrm>
          <a:prstGeom prst="roundRect">
            <a:avLst>
              <a:gd name="adj" fmla="val 8571"/>
            </a:avLst>
          </a:prstGeom>
          <a:solidFill>
            <a:srgbClr val="F4F5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89320" y="357530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A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&lt;limit&gt; en radianes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989320" y="377647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±110° del manual → ±1,9199 rad. Escribir 110 significaría 17 vueltas completas.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sintáctica obligatoria antes de lanzar RViz:   check_urdf irb120.urdf   ·   urdf_to_graphiz para exportar el árbol TF.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9728" cy="109728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26517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SolidWorks: de la geometría al gemelo visual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deliberada: primero la cinemática con primitivas, después la estética. Un robot bonito con ejes mal puestos no aprueba el hito.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9384"/>
            <a:ext cx="310896" cy="310896"/>
          </a:xfrm>
          <a:prstGeom prst="ellipse">
            <a:avLst/>
          </a:prstGeom>
          <a:solidFill>
            <a:srgbClr val="1F2A3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98424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8928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STEP oficial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1901952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del IRB 120 desde la librería ABB e importación en SolidWorks como ensamble.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478024"/>
            <a:ext cx="310896" cy="310896"/>
          </a:xfrm>
          <a:prstGeom prst="ellipse">
            <a:avLst/>
          </a:prstGeom>
          <a:solidFill>
            <a:srgbClr val="1F2A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53288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4414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División por eslabón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2450592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aísla cada eslabón como pieza independiente: base, link_1 … link_6. Uno por &lt;link&gt; del URDF.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026664"/>
            <a:ext cx="310896" cy="310896"/>
          </a:xfrm>
          <a:prstGeom prst="ellipse">
            <a:avLst/>
          </a:prstGeom>
          <a:solidFill>
            <a:srgbClr val="1F2A3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308152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29900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coordenadas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246120" y="2999232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pieza se le crea un croquis de referencia coincidente con su marco D-H, y se exporta relativo a él.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575304"/>
            <a:ext cx="310896" cy="310896"/>
          </a:xfrm>
          <a:prstGeom prst="ellipse">
            <a:avLst/>
          </a:prstGeom>
          <a:solidFill>
            <a:srgbClr val="1F2A3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63016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3538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Exportación STL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246120" y="3547872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como STL, unidades mm, resolución fina para visual y malla gruesa para colisión.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123944"/>
            <a:ext cx="310896" cy="310896"/>
          </a:xfrm>
          <a:prstGeom prst="ellipse">
            <a:avLst/>
          </a:prstGeom>
          <a:solidFill>
            <a:srgbClr val="FF6A1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" y="417880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40873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Estudio de movimiento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246120" y="4096512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Study reproduce la misma trayectoria del joint_state: validación visual cruzada CAD ↔ RViz.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Malla de colisión ≠ malla visual: la de colisión se simplifica a cilindros y cajas para no matar el motor de físicas en Gazebo.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9728" cy="109728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26517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ROS convierte el XML en un árbol TF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nodo 'sabe' de D-H. La cadena de responsabilidad es explícita y por eso es auditable: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920240" cy="1417320"/>
          </a:xfrm>
          <a:prstGeom prst="roundRect">
            <a:avLst>
              <a:gd name="adj" fmla="val 3871"/>
            </a:avLst>
          </a:prstGeom>
          <a:solidFill>
            <a:srgbClr val="2C3B4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196596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A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irb120.urdf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395728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F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F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parámetro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F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robot_description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395728" y="24231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06040" y="1828800"/>
            <a:ext cx="1920240" cy="1417320"/>
          </a:xfrm>
          <a:prstGeom prst="roundRect">
            <a:avLst>
              <a:gd name="adj" fmla="val 3871"/>
            </a:avLst>
          </a:prstGeom>
          <a:solidFill>
            <a:srgbClr val="2C3B4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15768" y="196596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A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joint_state_publisher_gui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2715768" y="2395728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F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/joint_states: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F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6 valores qᵢ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F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(sliders)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24231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828800"/>
            <a:ext cx="1920240" cy="1417320"/>
          </a:xfrm>
          <a:prstGeom prst="roundRect">
            <a:avLst>
              <a:gd name="adj" fmla="val 3871"/>
            </a:avLst>
          </a:prstGeom>
          <a:solidFill>
            <a:srgbClr val="FF6A1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64608" y="196596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robot_state_publisher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864608" y="2395728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 origin·Rz(q)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publica /tf para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eslabón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693408" y="24231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903720" y="1828800"/>
            <a:ext cx="1920240" cy="1417320"/>
          </a:xfrm>
          <a:prstGeom prst="roundRect">
            <a:avLst>
              <a:gd name="adj" fmla="val 3871"/>
            </a:avLst>
          </a:prstGeom>
          <a:solidFill>
            <a:srgbClr val="2C3B4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13448" y="196596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A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RViz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013448" y="2395728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F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/tf,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F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 mallas y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F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8229600" cy="960120"/>
          </a:xfrm>
          <a:prstGeom prst="roundRect">
            <a:avLst>
              <a:gd name="adj" fmla="val 4762"/>
            </a:avLst>
          </a:prstGeom>
          <a:solidFill>
            <a:srgbClr val="16202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1792" y="3557016"/>
            <a:ext cx="79004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ros2 launch irb120_description display.launch.py     # levanta los 3 nodos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ros2 run tf2_ros tf2_echo base_link tool0             # lectura numérica de la pose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check_urdf irb120.urdf                                # validación sintáctica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Elección justificada: Ubuntu 24.04 + ROS 2 Jazzy. El BOM pide 24.04 con “Noetic/Humble”, pero Noetic sólo soporta 20.04 y Humble 22.04: esa combinación no existe. Respetamos el SO del BOM y adoptamos Jazzy, la distribución LTS oficial para 24.04.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9728" cy="109728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26517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PASAPORTE DEL HITO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pruebas: TF vs. analítica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basta con q = 0. Publicamos configuraciones aleatorias en /joint_states y contrastamos la transformada que devuelve ROS contra la función analítica.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029200" cy="1737360"/>
          </a:xfrm>
          <a:prstGeom prst="roundRect">
            <a:avLst>
              <a:gd name="adj" fmla="val 2632"/>
            </a:avLst>
          </a:prstGeom>
          <a:solidFill>
            <a:srgbClr val="1620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2002536"/>
            <a:ext cx="470001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 = []</a:t>
            </a:r>
            <a:endParaRPr lang="en-US" sz="900" dirty="0"/>
          </a:p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_ in range(1000):</a:t>
            </a:r>
            <a:endParaRPr lang="en-US" sz="900" dirty="0"/>
          </a:p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 = np.random.uniform(LOW, HIGH)     # dentro de &lt;limit&gt;</a:t>
            </a:r>
            <a:endParaRPr lang="en-US" sz="900" dirty="0"/>
          </a:p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p_ana = fk(q)[:3, 3]                 # analitica (NumPy)</a:t>
            </a:r>
            <a:endParaRPr lang="en-US" sz="900" dirty="0"/>
          </a:p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tf = buf.lookup_transform('base_link', 'tool0',</a:t>
            </a:r>
            <a:endParaRPr lang="en-US" sz="900" dirty="0"/>
          </a:p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rclpy.time.Time())</a:t>
            </a:r>
            <a:endParaRPr lang="en-US" sz="900" dirty="0"/>
          </a:p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err.append(np.linalg.norm(p_ana - p_vec(tf)))</a:t>
            </a:r>
            <a:endParaRPr lang="en-US" sz="900" dirty="0"/>
          </a:p>
          <a:p>
            <a:pPr indent="0" marL="0">
              <a:lnSpc>
                <a:spcPts val="1215"/>
              </a:lnSpc>
              <a:buNone/>
            </a:pPr>
            <a:endParaRPr lang="en-US" sz="900" dirty="0"/>
          </a:p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print(f"DeltaE_max = {max(err):.3e} m")  # -&gt; 2.474e-10 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0" y="1874520"/>
            <a:ext cx="3017520" cy="822960"/>
          </a:xfrm>
          <a:prstGeom prst="roundRect">
            <a:avLst>
              <a:gd name="adj" fmla="val 6667"/>
            </a:avLst>
          </a:prstGeom>
          <a:solidFill>
            <a:srgbClr val="1F2A3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806440" y="20848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ΔE máx = 2,47 × 10⁻¹⁰ m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27889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4 000 veces por debajo del umbral exigido de 10⁻⁶ m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501 muestras válidas de 1000 publicadas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Orientación validada: ‖R_anaᵀ·R_tf − I‖_F máx = 1,11 × 10⁻⁹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por marca de tiempo, no por espera fija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es exacto a 10⁻¹⁶ (verificación offline). El 10⁻¹⁰ que mide TF es la precisión del transporte: ROS envía las rotaciones como cuaterniones en float32, cuyo épsilon es 1,2 × 10⁻⁷.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9728" cy="109728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26517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Disciplina de repositorio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PFI penaliza los commits masivos al final del semestre. Nuestro historial refleja el orden real de trabajo.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977640" cy="2331720"/>
          </a:xfrm>
          <a:prstGeom prst="roundRect">
            <a:avLst>
              <a:gd name="adj" fmla="val 2353"/>
            </a:avLst>
          </a:prstGeom>
          <a:solidFill>
            <a:srgbClr val="F4F5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9933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ramas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33172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— sólo hitos entregados y etiquetados (v1.0-hito1)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— integración continua del equipo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feature/* — una rama por tarea y por integrante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obligatorio: nadie mergea su propio código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828800"/>
            <a:ext cx="3977640" cy="2331720"/>
          </a:xfrm>
          <a:prstGeom prst="roundRect">
            <a:avLst>
              <a:gd name="adj" fmla="val 2353"/>
            </a:avLst>
          </a:prstGeom>
          <a:solidFill>
            <a:srgbClr val="F4F5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37760" y="19933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Conventional Commits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937760" y="2331720"/>
            <a:ext cx="3520440" cy="1691640"/>
          </a:xfrm>
          <a:prstGeom prst="roundRect">
            <a:avLst>
              <a:gd name="adj" fmla="val 2703"/>
            </a:avLst>
          </a:prstGeom>
          <a:solidFill>
            <a:srgbClr val="16202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102352" y="2459736"/>
            <a:ext cx="319125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feat(urdf): añade cadena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cinematica de 6 juntas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fix(dh): corrige offset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theta2 = q2 - pi/2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test(fk): matriz de 1000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configuraciones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docs(readme): tabla D-H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y fuente bibliografica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2793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prefijo no es cosmético: permite generar el CHANGELOG automáticamente y rastrear qué commit introdujo cada cambio cinemático.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9728" cy="109728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26517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AMPLIADO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hicimos de más siendo cuatro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enunciado prevé grupos de tres. Nuestro cuarto integrante no diluye el trabajo: agrega una capa de verificación que el hito no pedía.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2606040" cy="1097280"/>
          </a:xfrm>
          <a:prstGeom prst="roundRect">
            <a:avLst>
              <a:gd name="adj" fmla="val 5000"/>
            </a:avLst>
          </a:prstGeom>
          <a:solidFill>
            <a:srgbClr val="2C3B47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2020824"/>
            <a:ext cx="82296" cy="82296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" y="2167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Derivación algebraica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4414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F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cerrada D-H→URDF en vez de ajuste manual de orígenes.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874520"/>
            <a:ext cx="2606040" cy="1097280"/>
          </a:xfrm>
          <a:prstGeom prst="roundRect">
            <a:avLst>
              <a:gd name="adj" fmla="val 5000"/>
            </a:avLst>
          </a:prstGeom>
          <a:solidFill>
            <a:srgbClr val="2C3B47"/>
          </a:solidFill>
          <a:ln/>
        </p:spPr>
      </p:sp>
      <p:sp>
        <p:nvSpPr>
          <p:cNvPr id="11" name="Shape 9"/>
          <p:cNvSpPr/>
          <p:nvPr/>
        </p:nvSpPr>
        <p:spPr>
          <a:xfrm>
            <a:off x="3456432" y="2020824"/>
            <a:ext cx="82296" cy="82296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56432" y="2167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 simbólica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456432" y="24414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F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Comprobación con SymPy de que ⁰T₆ analítica ≡ cadena URDF para q genérico.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874520"/>
            <a:ext cx="2606040" cy="1097280"/>
          </a:xfrm>
          <a:prstGeom prst="roundRect">
            <a:avLst>
              <a:gd name="adj" fmla="val 5000"/>
            </a:avLst>
          </a:prstGeom>
          <a:solidFill>
            <a:srgbClr val="2C3B47"/>
          </a:solidFill>
          <a:ln/>
        </p:spPr>
      </p:sp>
      <p:sp>
        <p:nvSpPr>
          <p:cNvPr id="15" name="Shape 13"/>
          <p:cNvSpPr/>
          <p:nvPr/>
        </p:nvSpPr>
        <p:spPr>
          <a:xfrm>
            <a:off x="6291072" y="2020824"/>
            <a:ext cx="82296" cy="82296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91072" y="2167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Suite de tests + CI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291072" y="24414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F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con 1000 configuraciones, ejecutado en GitHub Actions en cada push.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2606040" cy="1097280"/>
          </a:xfrm>
          <a:prstGeom prst="roundRect">
            <a:avLst>
              <a:gd name="adj" fmla="val 5000"/>
            </a:avLst>
          </a:prstGeom>
          <a:solidFill>
            <a:srgbClr val="2C3B47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" y="3255264"/>
            <a:ext cx="82296" cy="82296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1792" y="34015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Gemelo visual CAD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21792" y="36758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F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Study en SolidWorks sincronizado con la trayectoria de RViz.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91840" y="3108960"/>
            <a:ext cx="2606040" cy="1097280"/>
          </a:xfrm>
          <a:prstGeom prst="roundRect">
            <a:avLst>
              <a:gd name="adj" fmla="val 5000"/>
            </a:avLst>
          </a:prstGeom>
          <a:solidFill>
            <a:srgbClr val="2C3B47"/>
          </a:solidFill>
          <a:ln/>
        </p:spPr>
      </p:sp>
      <p:sp>
        <p:nvSpPr>
          <p:cNvPr id="23" name="Shape 21"/>
          <p:cNvSpPr/>
          <p:nvPr/>
        </p:nvSpPr>
        <p:spPr>
          <a:xfrm>
            <a:off x="3456432" y="3255264"/>
            <a:ext cx="82296" cy="82296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456432" y="34015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dinámico base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3456432" y="36758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F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&lt;inertial&gt; por eslabón, dejando el URDF listo para Gazebo en el Hito 4.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3108960"/>
            <a:ext cx="2606040" cy="1097280"/>
          </a:xfrm>
          <a:prstGeom prst="roundRect">
            <a:avLst>
              <a:gd name="adj" fmla="val 5000"/>
            </a:avLst>
          </a:prstGeom>
          <a:solidFill>
            <a:srgbClr val="2C3B47"/>
          </a:solidFill>
          <a:ln/>
        </p:spPr>
      </p:sp>
      <p:sp>
        <p:nvSpPr>
          <p:cNvPr id="27" name="Shape 25"/>
          <p:cNvSpPr/>
          <p:nvPr/>
        </p:nvSpPr>
        <p:spPr>
          <a:xfrm>
            <a:off x="6291072" y="3255264"/>
            <a:ext cx="82296" cy="82296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91072" y="34015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Catálogo de erratas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291072" y="36758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F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documentado de las discrepancias halladas en el material de referencia.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reparto: cada integrante es dueño de una capa completa (matemática · CAD · ROS · verificación) y revisor de otra.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9728" cy="109728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26517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anticipadas y respuesta corta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θ₂ lleva −π/2?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373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el cero mecánico de ABB y el cero de x₂ impuesto por la perpendicular común difieren 90°.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92040" y="14630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todos los axis son 0 0 1?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7373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D-H define la variable de junta como rotación en torno a zᵢ₋₁; el eje nunca es otro.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5146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¿Su URDF es sólo la tabla copiada?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7889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origen = Bᵢ₋₁·Rz(offᵢ). Se demuestra por factorización de Rz(q+off) = Rz(off)·Rz(q).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2423160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92040" y="25146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sé que RViz no miente?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27889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tf2_echo entrega la pose numérica y la contrastamos contra NumPy en 1000 configuraciones.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5661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¿Y si cambia la fuente de la tabla D-H?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8404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Sólo cambia la lista TABLA; los orígenes URDF se regeneran con el script, no a mano.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3474720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92040" y="35661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no usaron MoveIt!?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38404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anti-caja-negra del PFI y, sobre todo, porque el hito evalúa el modelo, no el planificador.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del equipo en la defensa: toda respuesta se apoya en un número o en una línea de código del repositorio, nunca en una impresión visual.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9728" cy="109728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26517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REAL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Incidencias encontradas y cómo se resolvieron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de estas apareció en el enunciado. Documentarlas es parte del trabajo, y cada una dejó una lección técnica concreta.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977640" cy="804672"/>
          </a:xfrm>
          <a:prstGeom prst="roundRect">
            <a:avLst>
              <a:gd name="adj" fmla="val 6818"/>
            </a:avLst>
          </a:prstGeom>
          <a:solidFill>
            <a:srgbClr val="F4F5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1993392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Repositorio APT en conflicto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231136"/>
            <a:ext cx="3648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fuentes de ROS declaraban claves distintas (una en texto plano). Se purgó y se reinstaló con el paquete oficial ros2-apt-source.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1920240"/>
            <a:ext cx="3977640" cy="804672"/>
          </a:xfrm>
          <a:prstGeom prst="roundRect">
            <a:avLst>
              <a:gd name="adj" fmla="val 6818"/>
            </a:avLst>
          </a:prstGeom>
          <a:solidFill>
            <a:srgbClr val="F4F5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73752" y="1993392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rpy en gimbal lock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73752" y="2231136"/>
            <a:ext cx="3648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Rx(−π/2)·Rz(−π/2) cae en pitch = −π/2, donde roll y yaw dejan de ser independientes. Se resolvió con la rama degenerada explícita.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3977640" cy="804672"/>
          </a:xfrm>
          <a:prstGeom prst="roundRect">
            <a:avLst>
              <a:gd name="adj" fmla="val 6818"/>
            </a:avLst>
          </a:prstGeom>
          <a:solidFill>
            <a:srgbClr val="F4F5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" y="2907792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Publicadores en conflicto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3145536"/>
            <a:ext cx="3648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joint_state_publisher reescribía las configuraciones del validador con q = 0. Error resultante: 1,11 m. Se separó por el argumento gui.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2834640"/>
            <a:ext cx="3977640" cy="804672"/>
          </a:xfrm>
          <a:prstGeom prst="roundRect">
            <a:avLst>
              <a:gd name="adj" fmla="val 6818"/>
            </a:avLst>
          </a:prstGeom>
          <a:solidFill>
            <a:srgbClr val="F4F5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73752" y="2907792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Desfase temporal en TF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73752" y="3145536"/>
            <a:ext cx="3648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espera fija, tf2 devolvía la pose de la configuración anterior. Se sincronizó comparando marcas de tiempo del JointState y de la transformada.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3977640" cy="804672"/>
          </a:xfrm>
          <a:prstGeom prst="roundRect">
            <a:avLst>
              <a:gd name="adj" fmla="val 6818"/>
            </a:avLst>
          </a:prstGeom>
          <a:solidFill>
            <a:srgbClr val="F4F5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" y="3822192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package:// sin resolver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" y="4059936"/>
            <a:ext cx="3648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CMakeLists no instala urdf/ meshes/ launch/, el árbol TF sale perfecto pero RViz no dibuja nada. Fallo silencioso.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3749040"/>
            <a:ext cx="3977640" cy="804672"/>
          </a:xfrm>
          <a:prstGeom prst="roundRect">
            <a:avLst>
              <a:gd name="adj" fmla="val 6818"/>
            </a:avLst>
          </a:prstGeom>
          <a:solidFill>
            <a:srgbClr val="F4F5F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73752" y="3822192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BOM incompatible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873752" y="4059936"/>
            <a:ext cx="3648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24.04 con Noetic o Humble no existe. Se respetó el SO y se adoptó Jazzy.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de 1,11 m no se escondió: se diagnosticó, se explicó su causa y se corrigió. Eso es lo que distingue una validación confiable de una que salió bien por casualidad.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F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9728" cy="109728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26517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 que respalda cada afirmación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número de esta presentación se puede reproducir desde el repositorio con un comando.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926080"/>
                <a:gridCol w="256032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6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Afirmación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B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6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se comprueba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B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6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B4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URDF es sintácticamente válido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B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check_urdf irb120.urdf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B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Árbol base_link → tool0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B4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p(q=0) = [0,374, 0, 0,630]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B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python3 fk_irb120.py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B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Suma de cotas del manual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B4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≡ derivado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B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python3 compare_urdf.py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B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= 0 en las 7 juntas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B4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exacto a 10⁻¹⁶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B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generate_urdf.py (offline)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B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3,68 × 10⁻¹⁶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B4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 coincide con la analítica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B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python3 validate_tf.py 1000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B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docs/validacion_hito1.txt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B4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Historial de trabajo real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B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log --graph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B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Commits fechados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B4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977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video demostrativo muestra las tres piezas simultáneamente: RViz con los sliders, tf2_echo cambiando en vivo, y la corrida de validación terminando en APROBADO.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9728" cy="109728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26517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está cerrado y qué sigue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206240" cy="3200400"/>
          </a:xfrm>
          <a:prstGeom prst="roundRect">
            <a:avLst>
              <a:gd name="adj" fmla="val 1714"/>
            </a:avLst>
          </a:prstGeom>
          <a:solidFill>
            <a:srgbClr val="F4F5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536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Cerrado en el Hito 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874520"/>
            <a:ext cx="37947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Cinemática directa analítica en NumPy puro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URDF manual con procedencia documentada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URDF derivado por script desde la tabla D-H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Equivalencia demostrada entre ambas versiones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en RViz configurada y versionada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contra el árbol TF de ROS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con historial secuencial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937760" y="1371600"/>
            <a:ext cx="374904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DE2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66360" y="1536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siguiente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1874520"/>
            <a:ext cx="32918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Mallas de los eslabones para el modelo visual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Pinza neumática diseñada en SolidWorks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&lt;inertial&gt; para habilitar Gazebo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Cinemática inversa por Pieper (Hito 2)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mallas son geometría visual: no intervienen en la cinemática ni alteran el error de validación. La pinza, en cambio, es diseño original del grupo y alimenta directamente el Hito 4.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F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051560"/>
            <a:ext cx="457200" cy="457200"/>
          </a:xfrm>
          <a:prstGeom prst="rect">
            <a:avLst/>
          </a:prstGeom>
          <a:solidFill>
            <a:srgbClr val="FF6A1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6916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116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gemelo digital no se parece al robot:</a:t>
            </a:r>
            <a:endParaRPr lang="en-US" sz="28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el mismo operador de SE(3).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4,44e−16 m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ΔE máximo alcanzado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configuraciones validadas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orígenes ajustados a mano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976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F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hito: cinemática inversa por desacoplamiento de Pieper y perfiles de velocidad LSPB sobre este mismo modelo.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Hito 1 - Gemelo Digital ABB IRB 120</dc:title>
  <dc:subject>PptxGenJS Presentation</dc:subject>
  <dc:creator>Grupo IMT-342</dc:creator>
  <cp:lastModifiedBy>Grupo IMT-342</cp:lastModifiedBy>
  <cp:revision>1</cp:revision>
  <dcterms:created xsi:type="dcterms:W3CDTF">2026-09-10T17:21:11Z</dcterms:created>
  <dcterms:modified xsi:type="dcterms:W3CDTF">2026-09-10T17:21:11Z</dcterms:modified>
</cp:coreProperties>
</file>